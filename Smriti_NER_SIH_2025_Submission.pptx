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</a:defRPr>
            </a:pPr>
            <a:r>
              <a:t>SMART INDIA HACKATHON 2025</a:t>
            </a:r>
          </a:p>
          <a:p>
            <a:pPr algn="ctr">
              <a:defRPr sz="2000" b="1">
                <a:solidFill>
                  <a:srgbClr val="EA580C"/>
                </a:solidFill>
              </a:defRPr>
            </a:pPr>
            <a:r>
              <a:t>TITLE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62895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• Problem Statement ID :</a:t>
            </a:r>
            <a:r>
              <a:rPr sz="1500">
                <a:solidFill>
                  <a:srgbClr val="1E293B"/>
                </a:solidFill>
              </a:rPr>
              <a:t> Enter your assigned PS ID (e.g. SIH2025-MED01)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• Problem Statement Title :</a:t>
            </a:r>
            <a:r>
              <a:rPr sz="1500">
                <a:solidFill>
                  <a:srgbClr val="1E293B"/>
                </a:solidFill>
              </a:rPr>
              <a:t> AI-Driven Culturally Grounded Digital Therapeutics &amp; Cognitive Care for Dementia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• Project Name :</a:t>
            </a:r>
            <a:r>
              <a:rPr sz="1500">
                <a:solidFill>
                  <a:srgbClr val="1E293B"/>
                </a:solidFill>
              </a:rPr>
              <a:t> Smriti-NER (স্মৃতি) — Cognitive Health Platform for North East India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• Theme :</a:t>
            </a:r>
            <a:r>
              <a:rPr sz="1500">
                <a:solidFill>
                  <a:srgbClr val="1E293B"/>
                </a:solidFill>
              </a:rPr>
              <a:t> MedTech / BioTech / Healthcare &amp; Rural Health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• PS Category :</a:t>
            </a:r>
            <a:r>
              <a:rPr sz="1500">
                <a:solidFill>
                  <a:srgbClr val="1E293B"/>
                </a:solidFill>
              </a:rPr>
              <a:t> Software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• Team ID :</a:t>
            </a:r>
            <a:r>
              <a:rPr sz="1500">
                <a:solidFill>
                  <a:srgbClr val="1E293B"/>
                </a:solidFill>
              </a:rPr>
              <a:t> Enter your Team ID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• Team Name :</a:t>
            </a:r>
            <a:r>
              <a:rPr sz="1500">
                <a:solidFill>
                  <a:srgbClr val="1E293B"/>
                </a:solidFill>
              </a:rPr>
              <a:t> Enter your Registered Team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2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16459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7432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B365D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EA580C"/>
                </a:solidFill>
              </a:defRPr>
            </a:pPr>
            <a:r>
              <a:t>HACKATHON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2004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</a:defRPr>
            </a:pPr>
            <a:r>
              <a:t>IDEA TITLE: SMRITI-NER (স্মৃতি)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Proposed Solution (3 Core Pillars):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EA580C"/>
                </a:solidFill>
              </a:rPr>
              <a:t>• Zero-Confusion Elderly UI: </a:t>
            </a:r>
            <a:r>
              <a:rPr sz="1100">
                <a:solidFill>
                  <a:srgbClr val="1E293B"/>
                </a:solidFill>
              </a:rPr>
              <a:t>5 giant high-affordance tactile tiles with password-free 1-tap fast-pass login for dementia patients.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EA580C"/>
                </a:solidFill>
              </a:rPr>
              <a:t>• 8-Game Cultural Therapeutic Suite: </a:t>
            </a:r>
            <a:r>
              <a:rPr sz="1100">
                <a:solidFill>
                  <a:srgbClr val="1E293B"/>
                </a:solidFill>
              </a:rPr>
              <a:t>Clinically designed cognitive exercises using familiar North Eastern motifs (Kaziranga rhino, tea sorting, Bihu rhythms) stimulating memory and combating visual agnosia.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EA580C"/>
                </a:solidFill>
              </a:rPr>
              <a:t>• Multilingual Neural AI Voice Companion: </a:t>
            </a:r>
            <a:r>
              <a:rPr sz="1100">
                <a:solidFill>
                  <a:srgbClr val="1E293B"/>
                </a:solidFill>
              </a:rPr>
              <a:t>Empathetic voice assistant providing hands-free guidance and daily medication, water, and appointment reminders in Assamese and English.</a:t>
            </a:r>
          </a:p>
          <a:p>
            <a:pPr>
              <a:spcBef>
                <a:spcPts val="600"/>
              </a:spcBef>
              <a:defRPr sz="1300" b="1">
                <a:solidFill>
                  <a:srgbClr val="1B365D"/>
                </a:solidFill>
              </a:defRPr>
            </a:pPr>
            <a:r>
              <a:t>How It Addresses The Problem: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• Bridges Rural Diagnostic Gap: </a:t>
            </a:r>
            <a:r>
              <a:rPr sz="1100">
                <a:solidFill>
                  <a:srgbClr val="1E293B"/>
                </a:solidFill>
              </a:rPr>
              <a:t>Solves the 85%+ undiagnosed dementia gap in rural NER with zero-cost smartphone deployment and empowers local ASHA health workers.</a:t>
            </a:r>
          </a:p>
          <a:p>
            <a:pPr>
              <a:spcBef>
                <a:spcPts val="600"/>
              </a:spcBef>
              <a:defRPr sz="1300" b="1">
                <a:solidFill>
                  <a:srgbClr val="1B365D"/>
                </a:solidFill>
              </a:defRPr>
            </a:pPr>
            <a:r>
              <a:t>Innovation &amp; Uniqueness:</a:t>
            </a:r>
          </a:p>
          <a:p>
            <a:r>
              <a:rPr b="1" sz="1100">
                <a:solidFill>
                  <a:srgbClr val="EA580C"/>
                </a:solidFill>
              </a:rPr>
              <a:t>• Passive Micro-Latency Tracking: </a:t>
            </a:r>
            <a:r>
              <a:rPr sz="1100">
                <a:solidFill>
                  <a:srgbClr val="1E293B"/>
                </a:solidFill>
              </a:rPr>
              <a:t>Records millisecond reaction speeds and accuracy curves to generate MMSE-correlated clinical radar reports for neurologists.</a:t>
            </a:r>
          </a:p>
        </p:txBody>
      </p:sp>
      <p:pic>
        <p:nvPicPr>
          <p:cNvPr id="7" name="Picture 6" descr="smriti_ner_clean_concept_17882572654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754880" cy="26538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3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16459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7432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B365D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EA580C"/>
                </a:solidFill>
              </a:defRPr>
            </a:pPr>
            <a:r>
              <a:t>HACKATHON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2004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</a:defRPr>
            </a:pPr>
            <a:r>
              <a:t>TECHNICAL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B365D"/>
                </a:solidFill>
              </a:defRPr>
            </a:pPr>
            <a:r>
              <a:t>Technologies &amp; Architecture: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A580C"/>
                </a:solidFill>
              </a:rPr>
              <a:t>• Frontend / UX: </a:t>
            </a:r>
            <a:r>
              <a:rPr sz="1200">
                <a:solidFill>
                  <a:srgbClr val="1E293B"/>
                </a:solidFill>
              </a:rPr>
              <a:t>React 19, Vite, TailwindCSS (WCAG 2.1 AAA High-Contrast Palette for Elderly).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A580C"/>
                </a:solidFill>
              </a:rPr>
              <a:t>• Voice AI Engine: </a:t>
            </a:r>
            <a:r>
              <a:rPr sz="1200">
                <a:solidFill>
                  <a:srgbClr val="1E293B"/>
                </a:solidFill>
              </a:rPr>
              <a:t>Multilingual Neural Speech Synthesis, Web Speech API, Web Audio API.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A580C"/>
                </a:solidFill>
              </a:rPr>
              <a:t>• Backend &amp; Database: </a:t>
            </a:r>
            <a:r>
              <a:rPr sz="1200">
                <a:solidFill>
                  <a:srgbClr val="1E293B"/>
                </a:solidFill>
              </a:rPr>
              <a:t>Supabase Cloud (PostgreSQL), Granular Row-Level Security (RLS).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A580C"/>
                </a:solidFill>
              </a:rPr>
              <a:t>• Clinical Analytics: </a:t>
            </a:r>
            <a:r>
              <a:rPr sz="1200">
                <a:solidFill>
                  <a:srgbClr val="1E293B"/>
                </a:solidFill>
              </a:rPr>
              <a:t>Recharts (5-axis Cognitive Domain Radar Charts, Longitudinal Latency Curves).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A580C"/>
                </a:solidFill>
              </a:rPr>
              <a:t>• Deployment: </a:t>
            </a:r>
            <a:r>
              <a:rPr sz="1200">
                <a:solidFill>
                  <a:srgbClr val="1E293B"/>
                </a:solidFill>
              </a:rPr>
              <a:t>Vercel Edge Network, Progressive Web App (PWA) with Offline IndexedDB Cache.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B365D"/>
                </a:solidFill>
              </a:defRPr>
            </a:pPr>
            <a:r>
              <a:t>Implementation Workflow &amp; Process: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284C7"/>
                </a:solidFill>
              </a:rPr>
              <a:t>• 1. 1-Tap Access: </a:t>
            </a:r>
            <a:r>
              <a:rPr sz="1200">
                <a:solidFill>
                  <a:srgbClr val="1E293B"/>
                </a:solidFill>
              </a:rPr>
              <a:t>Dementia patient logs in with single-tap remembered avatar, zero password friction.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284C7"/>
                </a:solidFill>
              </a:rPr>
              <a:t>• 2. Multilingual Engagement: </a:t>
            </a:r>
            <a:r>
              <a:rPr sz="1200">
                <a:solidFill>
                  <a:srgbClr val="1E293B"/>
                </a:solidFill>
              </a:rPr>
              <a:t>Listens to natural Assamese/English audio orientation and selects from 8 therapeutic games.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284C7"/>
                </a:solidFill>
              </a:rPr>
              <a:t>• 3. Passive Metric Extraction: </a:t>
            </a:r>
            <a:r>
              <a:rPr sz="1200">
                <a:solidFill>
                  <a:srgbClr val="1E293B"/>
                </a:solidFill>
              </a:rPr>
              <a:t>Engine logs interaction latencies (ms), decision errors, and motor accuracy in real-time.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284C7"/>
                </a:solidFill>
              </a:rPr>
              <a:t>• 4. Smart Reminders: </a:t>
            </a:r>
            <a:r>
              <a:rPr sz="1200">
                <a:solidFill>
                  <a:srgbClr val="1E293B"/>
                </a:solidFill>
              </a:rPr>
              <a:t>Proactive automated voice reminders for daily medications, hydration, and doctor visits.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284C7"/>
                </a:solidFill>
              </a:rPr>
              <a:t>• 5. Clinical Tele-Triaging: </a:t>
            </a:r>
            <a:r>
              <a:rPr sz="1200">
                <a:solidFill>
                  <a:srgbClr val="1E293B"/>
                </a:solidFill>
              </a:rPr>
              <a:t>Syncs encrypted longitudinal records to ASHA workers and GMCH neurologists for early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4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16459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7432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B365D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EA580C"/>
                </a:solidFill>
              </a:defRPr>
            </a:pPr>
            <a:r>
              <a:t>HACKATHON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2004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</a:defRPr>
            </a:pPr>
            <a: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B365D"/>
                </a:solidFill>
              </a:defRPr>
            </a:pPr>
            <a:r>
              <a:t>1. Feasibility Analysis of the Idea: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Working Live Prototype: Already fully developed and deployed on Vercel with real-time cloud data sync.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Zero Hardware Cost: Runs seamlessly on any standard smartphone, tablet, or PHC desktop without expensive external sensors.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Low-Bandwidth Optimization: Designed to operate reliably on rural 2G/3G networks across remote hilly regions.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365D"/>
                </a:solidFill>
              </a:defRPr>
            </a:pPr>
            <a:r>
              <a:t>2. Potential Challenges &amp; Mitigation Strategies: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EA580C"/>
                </a:solidFill>
              </a:rPr>
              <a:t>• Risk 1: Intermittent Internet in Remote Hilly Districts (e.g., Majuli, Dima Hasao)
  ➔ </a:t>
            </a:r>
            <a:r>
              <a:rPr sz="1150">
                <a:solidFill>
                  <a:srgbClr val="1E293B"/>
                </a:solidFill>
              </a:rPr>
              <a:t>Mitigation: Offline-First PWA architecture with local IndexedDB storage that automatically syncs when online.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EA580C"/>
                </a:solidFill>
              </a:rPr>
              <a:t>• Risk 2: Digital Hesitancy &amp; Tech Anxiety among 70+ Dementia Seniors
  ➔ </a:t>
            </a:r>
            <a:r>
              <a:rPr sz="1150">
                <a:solidFill>
                  <a:srgbClr val="1E293B"/>
                </a:solidFill>
              </a:rPr>
              <a:t>Mitigation: High-affordance 5-tile UI, giant touch targets, voice guidance, and zero password typing.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EA580C"/>
                </a:solidFill>
              </a:rPr>
              <a:t>• Risk 3: Health Data Privacy &amp; Security (DPDP Act / Healthcare Compliance)
  ➔ </a:t>
            </a:r>
            <a:r>
              <a:rPr sz="1150">
                <a:solidFill>
                  <a:srgbClr val="1E293B"/>
                </a:solidFill>
              </a:rPr>
              <a:t>Mitigation: Granular Row-Level Security (RLS), encrypted patient IDs, and anonymized clinical session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5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16459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7432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B365D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EA580C"/>
                </a:solidFill>
              </a:defRPr>
            </a:pPr>
            <a:r>
              <a:t>HACKATHON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2004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</a:defRPr>
            </a:pPr>
            <a:r>
              <a:t>IMPACT AND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6616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Target Audience Impact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Slowing Cognitive Decline: Regular cognitive stimulation preserves neural plasticity in MCI patients.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Emotional Calming &amp; Sundowning Relief: Traditional folk music and bird calls reduce anxiety and agitation.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Independence &amp; Dignity: Seniors independently track water, medicines, and daily orientation.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280160"/>
            <a:ext cx="356616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EA580C"/>
                </a:solidFill>
              </a:defRPr>
            </a:pPr>
            <a:r>
              <a:t>Social &amp; Healthcare Benefits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Empowering ASHA Workers: Provides objective digital screening tools during routine rural home visits.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Bridging Healthcare Divide: Direct digital linkage from village PHCs to tertiary centers (GMCH/NEIGRIHMS).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Culturally Inclusive Care: First healthcare tool embracing indigenous North Eastern heritage and languages.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280160"/>
            <a:ext cx="356616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1B365D"/>
                </a:solidFill>
              </a:defRPr>
            </a:pPr>
            <a:r>
              <a:t>Economic Viability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Massive Cost Savings: Reduces avoidable hospitalizations and specialized dementia caregiver costs.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National Scalability: Seamlessly aligns with National Programme for Health Care of the Elderly (NPHCE).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Zero Cost to Seniors: High public health ROI with zero proprietary hardware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6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16459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7432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B365D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EA580C"/>
                </a:solidFill>
              </a:defRPr>
            </a:pPr>
            <a:r>
              <a:t>HACKATHON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2004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</a:defRPr>
            </a:pPr>
            <a: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B365D"/>
                </a:solidFill>
              </a:defRPr>
            </a:pPr>
            <a:r>
              <a:t>Clinical Research &amp; Scientific Grounding: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A580C"/>
                </a:solidFill>
              </a:rPr>
              <a:t>• World Health Organization (WHO): </a:t>
            </a:r>
            <a:r>
              <a:rPr sz="1150">
                <a:solidFill>
                  <a:srgbClr val="1E293B"/>
                </a:solidFill>
              </a:rPr>
              <a:t>Global Action Plan on the Public Health Response to Dementia (2017–2025).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A580C"/>
                </a:solidFill>
              </a:rPr>
              <a:t>• Dementia India Report (ARDSI): </a:t>
            </a:r>
            <a:r>
              <a:rPr sz="1150">
                <a:solidFill>
                  <a:srgbClr val="1E293B"/>
                </a:solidFill>
              </a:rPr>
              <a:t>Assessment of high prevalence and clinical diagnostic gaps in rural and North Eastern populations.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A580C"/>
                </a:solidFill>
              </a:rPr>
              <a:t>• The Lancet Commission (2024): </a:t>
            </a:r>
            <a:r>
              <a:rPr sz="1150">
                <a:solidFill>
                  <a:srgbClr val="1E293B"/>
                </a:solidFill>
              </a:rPr>
              <a:t>Dementia prevention, intervention, and care — emphasizing early cognitive and sensory stimulation.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A580C"/>
                </a:solidFill>
              </a:rPr>
              <a:t>• Folstein et al. (MMSE &amp; MoCA): </a:t>
            </a:r>
            <a:r>
              <a:rPr sz="1150">
                <a:solidFill>
                  <a:srgbClr val="1E293B"/>
                </a:solidFill>
              </a:rPr>
              <a:t>Mini-Mental State Examination protocols and adaptation for multilingual Indian demographics.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B365D"/>
                </a:solidFill>
              </a:defRPr>
            </a:pPr>
            <a:r>
              <a:t>Standards &amp; Frameworks: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284C7"/>
                </a:solidFill>
              </a:rPr>
              <a:t>• W3C Web Content Accessibility Guidelines (WCAG 2.1 AAA): </a:t>
            </a:r>
            <a:r>
              <a:rPr sz="1150">
                <a:solidFill>
                  <a:srgbClr val="1E293B"/>
                </a:solidFill>
              </a:rPr>
              <a:t>Elderly touch targets, color contrast, and audio guidance standards.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284C7"/>
                </a:solidFill>
              </a:rPr>
              <a:t>• Ayushman Bharat Digital Mission (ABDM): </a:t>
            </a:r>
            <a:r>
              <a:rPr sz="1150">
                <a:solidFill>
                  <a:srgbClr val="1E293B"/>
                </a:solidFill>
              </a:rPr>
              <a:t>Healthcare registry interoperability and tele-monitoring frameworks.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B365D"/>
                </a:solidFill>
              </a:defRPr>
            </a:pPr>
            <a:r>
              <a:t>Live Prototype &amp; Verification Link:</a:t>
            </a:r>
          </a:p>
          <a:p>
            <a:r>
              <a:rPr b="1" sz="1200">
                <a:solidFill>
                  <a:srgbClr val="1B365D"/>
                </a:solidFill>
              </a:rPr>
              <a:t>• Live Application URL: </a:t>
            </a:r>
            <a:r>
              <a:rPr sz="1200" b="1">
                <a:solidFill>
                  <a:srgbClr val="0284C7"/>
                </a:solidFill>
              </a:rPr>
              <a:t>https://smriti-ner-three.vercel.app (Verified Working Production Prototype)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